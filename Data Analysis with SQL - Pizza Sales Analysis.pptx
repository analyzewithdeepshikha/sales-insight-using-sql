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4" r:id="rId5"/>
    <p:sldId id="258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6" r:id="rId24"/>
    <p:sldId id="267" r:id="rId25"/>
    <p:sldId id="282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E39A39"/>
    <a:srgbClr val="6C1A00"/>
    <a:srgbClr val="FE9202"/>
    <a:srgbClr val="1D3A00"/>
    <a:srgbClr val="007033"/>
    <a:srgbClr val="E7FF01"/>
    <a:srgbClr val="5EEC3C"/>
    <a:srgbClr val="9900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84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080" y="1808225"/>
            <a:ext cx="7940660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080" y="3640685"/>
            <a:ext cx="794066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350110"/>
            <a:ext cx="8398775" cy="3512215"/>
          </a:xfrm>
        </p:spPr>
        <p:txBody>
          <a:bodyPr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245" y="281175"/>
            <a:ext cx="6108199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2244" y="1197405"/>
            <a:ext cx="6108199" cy="3511061"/>
          </a:xfrm>
        </p:spPr>
        <p:txBody>
          <a:bodyPr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7"/>
            <a:ext cx="4040188" cy="2276294"/>
          </a:xfrm>
        </p:spPr>
        <p:txBody>
          <a:bodyPr/>
          <a:lstStyle>
            <a:lvl1pPr algn="l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7"/>
            <a:ext cx="4041775" cy="2276294"/>
          </a:xfrm>
        </p:spPr>
        <p:txBody>
          <a:bodyPr/>
          <a:lstStyle>
            <a:lvl1pPr algn="l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3142" y="3182570"/>
            <a:ext cx="8093364" cy="1832460"/>
          </a:xfrm>
        </p:spPr>
        <p:txBody>
          <a:bodyPr/>
          <a:lstStyle/>
          <a:p>
            <a:r>
              <a:rPr lang="en-US" dirty="0" smtClean="0"/>
              <a:t>Data </a:t>
            </a:r>
            <a:r>
              <a:rPr lang="en-US" dirty="0"/>
              <a:t>Analysis Using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9785" y="2877160"/>
            <a:ext cx="7940660" cy="763525"/>
          </a:xfrm>
        </p:spPr>
        <p:txBody>
          <a:bodyPr>
            <a:normAutofit/>
          </a:bodyPr>
          <a:lstStyle/>
          <a:p>
            <a:r>
              <a:rPr lang="en-US" sz="3200" dirty="0"/>
              <a:t>Pizza Hut Sales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350110"/>
            <a:ext cx="8246070" cy="33595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objective of this project is to analyze Pizza Hut sales data to extract meaningful business insights. The dataset contains information about orders, pizza types, quantities, pricing, and timestamps.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goal is to: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Understand customer ordering behavior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Identify top-performing products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Analyze revenue trends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Support data-driven decision-making for business growth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871725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 smtClean="0"/>
              <a:t>Objectives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39540" y="1350110"/>
            <a:ext cx="6404460" cy="30529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Calculate total orders and revenue </a:t>
            </a:r>
          </a:p>
          <a:p>
            <a:r>
              <a:rPr lang="en-US" sz="2400" dirty="0" smtClean="0"/>
              <a:t>Identify best-selling pizzas and categories</a:t>
            </a:r>
          </a:p>
          <a:p>
            <a:r>
              <a:rPr lang="en-US" sz="2400" dirty="0" smtClean="0"/>
              <a:t>Analyze order patterns by time and date</a:t>
            </a:r>
          </a:p>
          <a:p>
            <a:r>
              <a:rPr lang="en-US" sz="2400" dirty="0" smtClean="0"/>
              <a:t>Evaluate revenue contribution by category</a:t>
            </a:r>
          </a:p>
          <a:p>
            <a:r>
              <a:rPr lang="en-US" sz="2400" dirty="0" smtClean="0"/>
              <a:t>Generate insights for business optimization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128470"/>
            <a:ext cx="6413610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Tools &amp; Technologies Used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50360" y="1350110"/>
            <a:ext cx="5793640" cy="30529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SQL </a:t>
            </a:r>
            <a:r>
              <a:rPr lang="en-US" sz="2400" dirty="0"/>
              <a:t>Server </a:t>
            </a:r>
          </a:p>
          <a:p>
            <a:r>
              <a:rPr lang="en-US" sz="2400" dirty="0"/>
              <a:t>T-SQL </a:t>
            </a:r>
          </a:p>
          <a:p>
            <a:r>
              <a:rPr lang="en-US" sz="2400" dirty="0"/>
              <a:t>Data Cleaning Techniques </a:t>
            </a:r>
          </a:p>
          <a:p>
            <a:r>
              <a:rPr lang="en-US" sz="2400" dirty="0"/>
              <a:t>Aggregations &amp; Window Functions </a:t>
            </a:r>
          </a:p>
          <a:p>
            <a:r>
              <a:rPr lang="en-US" sz="2400" dirty="0"/>
              <a:t>Joins &amp; Subqueries</a:t>
            </a:r>
          </a:p>
        </p:txBody>
      </p:sp>
    </p:spTree>
    <p:extLst>
      <p:ext uri="{BB962C8B-B14F-4D97-AF65-F5344CB8AC3E}">
        <p14:creationId xmlns:p14="http://schemas.microsoft.com/office/powerpoint/2010/main" val="169953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965" y="281175"/>
            <a:ext cx="7940660" cy="763525"/>
          </a:xfrm>
        </p:spPr>
        <p:txBody>
          <a:bodyPr>
            <a:normAutofit/>
          </a:bodyPr>
          <a:lstStyle/>
          <a:p>
            <a:r>
              <a:rPr lang="en-US" dirty="0"/>
              <a:t>Dataset Description</a:t>
            </a:r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247068" y="1967280"/>
            <a:ext cx="1423538" cy="1832460"/>
          </a:xfrm>
          <a:prstGeom prst="rect">
            <a:avLst/>
          </a:prstGeom>
          <a:solidFill>
            <a:srgbClr val="EAEAEA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Orders</a:t>
            </a:r>
          </a:p>
          <a:p>
            <a:r>
              <a:rPr lang="en-US" sz="2000" dirty="0"/>
              <a:t>order_id </a:t>
            </a:r>
          </a:p>
          <a:p>
            <a:r>
              <a:rPr lang="en-US" sz="2000" dirty="0"/>
              <a:t>date </a:t>
            </a:r>
          </a:p>
          <a:p>
            <a:r>
              <a:rPr lang="en-US" sz="2000" dirty="0"/>
              <a:t>time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296260" y="1203755"/>
            <a:ext cx="7940660" cy="76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tx1"/>
                </a:solidFill>
                <a:effectLst/>
              </a:rPr>
              <a:t>The dataset consists of the following 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four tables</a:t>
            </a:r>
            <a:r>
              <a:rPr lang="en-US" sz="2400" dirty="0">
                <a:solidFill>
                  <a:schemeClr val="tx1"/>
                </a:solidFill>
                <a:effectLst/>
              </a:rPr>
              <a:t>:</a:t>
            </a:r>
          </a:p>
        </p:txBody>
      </p:sp>
      <p:sp>
        <p:nvSpPr>
          <p:cNvPr id="18" name="Content Placeholder 5"/>
          <p:cNvSpPr txBox="1">
            <a:spLocks/>
          </p:cNvSpPr>
          <p:nvPr/>
        </p:nvSpPr>
        <p:spPr>
          <a:xfrm>
            <a:off x="6862575" y="1967280"/>
            <a:ext cx="1985165" cy="1832460"/>
          </a:xfrm>
          <a:prstGeom prst="rect">
            <a:avLst/>
          </a:prstGeom>
          <a:solidFill>
            <a:srgbClr val="EAEAEA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Pizza Type</a:t>
            </a:r>
          </a:p>
          <a:p>
            <a:r>
              <a:rPr lang="en-US" sz="2000" dirty="0"/>
              <a:t>pizza_type_id </a:t>
            </a:r>
          </a:p>
          <a:p>
            <a:r>
              <a:rPr lang="en-US" sz="2000" dirty="0"/>
              <a:t>name </a:t>
            </a:r>
          </a:p>
          <a:p>
            <a:r>
              <a:rPr lang="en-US" sz="2000" dirty="0"/>
              <a:t>category</a:t>
            </a:r>
          </a:p>
        </p:txBody>
      </p:sp>
      <p:sp>
        <p:nvSpPr>
          <p:cNvPr id="19" name="Content Placeholder 5"/>
          <p:cNvSpPr txBox="1">
            <a:spLocks/>
          </p:cNvSpPr>
          <p:nvPr/>
        </p:nvSpPr>
        <p:spPr>
          <a:xfrm>
            <a:off x="4641008" y="1960931"/>
            <a:ext cx="1979670" cy="2137870"/>
          </a:xfrm>
          <a:prstGeom prst="rect">
            <a:avLst/>
          </a:prstGeom>
          <a:solidFill>
            <a:srgbClr val="EAEAEA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Pizzas</a:t>
            </a:r>
            <a:endParaRPr lang="en-US" b="1" dirty="0"/>
          </a:p>
          <a:p>
            <a:r>
              <a:rPr lang="en-US" sz="2000" dirty="0"/>
              <a:t>pizza_id </a:t>
            </a:r>
          </a:p>
          <a:p>
            <a:r>
              <a:rPr lang="en-US" sz="2000" dirty="0"/>
              <a:t>pizza_type_id </a:t>
            </a:r>
          </a:p>
          <a:p>
            <a:r>
              <a:rPr lang="en-US" sz="2000" dirty="0"/>
              <a:t>size </a:t>
            </a:r>
          </a:p>
          <a:p>
            <a:r>
              <a:rPr lang="en-US" sz="2000" dirty="0"/>
              <a:t>price</a:t>
            </a:r>
          </a:p>
        </p:txBody>
      </p:sp>
      <p:sp>
        <p:nvSpPr>
          <p:cNvPr id="20" name="Content Placeholder 5"/>
          <p:cNvSpPr txBox="1">
            <a:spLocks/>
          </p:cNvSpPr>
          <p:nvPr/>
        </p:nvSpPr>
        <p:spPr>
          <a:xfrm>
            <a:off x="1976015" y="1967280"/>
            <a:ext cx="2368378" cy="2436930"/>
          </a:xfrm>
          <a:prstGeom prst="rect">
            <a:avLst/>
          </a:prstGeom>
          <a:solidFill>
            <a:srgbClr val="EAEAEA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Order Details</a:t>
            </a:r>
          </a:p>
          <a:p>
            <a:r>
              <a:rPr lang="en-US" sz="2000" dirty="0"/>
              <a:t>order_details_id </a:t>
            </a:r>
          </a:p>
          <a:p>
            <a:r>
              <a:rPr lang="en-US" sz="2000" dirty="0"/>
              <a:t>order_id </a:t>
            </a:r>
          </a:p>
          <a:p>
            <a:r>
              <a:rPr lang="en-US" sz="2000" dirty="0"/>
              <a:t>pizza_id </a:t>
            </a:r>
          </a:p>
          <a:p>
            <a:r>
              <a:rPr lang="en-US" sz="2000" dirty="0"/>
              <a:t>quantity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/>
          <a:p>
            <a:r>
              <a:rPr lang="en-US" dirty="0"/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350110"/>
            <a:ext cx="5191970" cy="1374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Before analysis, the dataset was cleaned to ensure accuracy</a:t>
            </a:r>
            <a:r>
              <a:rPr lang="en-US" sz="1400" dirty="0" smtClean="0"/>
              <a:t>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 smtClean="0"/>
              <a:t>1. Null </a:t>
            </a:r>
            <a:r>
              <a:rPr lang="en-US" sz="1400" b="1" dirty="0"/>
              <a:t>Value </a:t>
            </a:r>
            <a:r>
              <a:rPr lang="en-US" sz="1400" b="1" dirty="0" smtClean="0"/>
              <a:t>Check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     Verified </a:t>
            </a:r>
            <a:r>
              <a:rPr lang="en-US" sz="1400" dirty="0"/>
              <a:t>all primary key </a:t>
            </a:r>
            <a:r>
              <a:rPr lang="en-US" sz="1400" dirty="0" smtClean="0"/>
              <a:t>columns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229" y="1197405"/>
            <a:ext cx="3512215" cy="38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96259" y="2571750"/>
            <a:ext cx="4886561" cy="1446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</a:rPr>
              <a:t>--check for null </a:t>
            </a:r>
            <a:r>
              <a:rPr lang="en-US" sz="1400" i="1" dirty="0" smtClean="0">
                <a:solidFill>
                  <a:schemeClr val="tx1"/>
                </a:solidFill>
              </a:rPr>
              <a:t>values</a:t>
            </a:r>
          </a:p>
          <a:p>
            <a:endParaRPr lang="en-US" sz="1400" i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SELECT * FROM pizzas WHERE pizza_id IS NULL; </a:t>
            </a:r>
          </a:p>
          <a:p>
            <a:r>
              <a:rPr lang="en-US" sz="1200" dirty="0">
                <a:solidFill>
                  <a:schemeClr val="tx1"/>
                </a:solidFill>
              </a:rPr>
              <a:t>SELECT * FROM pizza_type WHERE pizza_type_id IS NULL; </a:t>
            </a:r>
          </a:p>
          <a:p>
            <a:r>
              <a:rPr lang="en-US" sz="1200" dirty="0">
                <a:solidFill>
                  <a:schemeClr val="tx1"/>
                </a:solidFill>
              </a:rPr>
              <a:t>SELECT * FROM orders WHERE order_id IS NULL; </a:t>
            </a:r>
          </a:p>
          <a:p>
            <a:r>
              <a:rPr lang="en-US" sz="1200" dirty="0">
                <a:solidFill>
                  <a:schemeClr val="tx1"/>
                </a:solidFill>
              </a:rPr>
              <a:t>SELECT * FROM </a:t>
            </a:r>
            <a:r>
              <a:rPr lang="en-US" sz="1200" dirty="0" smtClean="0">
                <a:solidFill>
                  <a:schemeClr val="tx1"/>
                </a:solidFill>
              </a:rPr>
              <a:t>order_details WHERE </a:t>
            </a:r>
            <a:r>
              <a:rPr lang="en-US" sz="1200" dirty="0">
                <a:solidFill>
                  <a:schemeClr val="tx1"/>
                </a:solidFill>
              </a:rPr>
              <a:t>order_details_id IS NULL</a:t>
            </a:r>
            <a:r>
              <a:rPr lang="en-US" sz="1200" dirty="0" smtClean="0">
                <a:solidFill>
                  <a:schemeClr val="tx1"/>
                </a:solidFill>
              </a:rPr>
              <a:t>;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3555" y="4213856"/>
            <a:ext cx="5191970" cy="381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</a:rPr>
              <a:t>    No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null values found in ID </a:t>
            </a: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</a:rPr>
              <a:t>columns.</a:t>
            </a: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Font typeface="Arial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5844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/>
          <a:p>
            <a:r>
              <a:rPr lang="en-US" dirty="0"/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197406"/>
            <a:ext cx="3664921" cy="1221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2. Data Type </a:t>
            </a:r>
            <a:r>
              <a:rPr lang="en-US" sz="1400" b="1" dirty="0" smtClean="0"/>
              <a:t>Correction</a:t>
            </a: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200" dirty="0" smtClean="0"/>
              <a:t>Check </a:t>
            </a:r>
            <a:r>
              <a:rPr lang="en-US" sz="1200" dirty="0"/>
              <a:t>if data type is </a:t>
            </a:r>
            <a:r>
              <a:rPr lang="en-US" sz="1200" dirty="0" smtClean="0"/>
              <a:t>appropriate</a:t>
            </a:r>
            <a:endParaRPr lang="en-US" sz="1200" dirty="0"/>
          </a:p>
          <a:p>
            <a:r>
              <a:rPr lang="en-US" sz="1200" dirty="0" smtClean="0"/>
              <a:t>In ‘</a:t>
            </a:r>
            <a:r>
              <a:rPr lang="en-US" sz="1200" b="1" dirty="0" smtClean="0"/>
              <a:t>Pizzas</a:t>
            </a:r>
            <a:r>
              <a:rPr lang="en-US" sz="1200" dirty="0" smtClean="0"/>
              <a:t>’ table converted </a:t>
            </a:r>
            <a:r>
              <a:rPr lang="en-US" sz="1200" dirty="0"/>
              <a:t>price column from </a:t>
            </a:r>
          </a:p>
          <a:p>
            <a:pPr marL="0" indent="0">
              <a:buNone/>
            </a:pPr>
            <a:r>
              <a:rPr lang="en-US" sz="1200" dirty="0" smtClean="0"/>
              <a:t>         </a:t>
            </a:r>
            <a:r>
              <a:rPr lang="en-US" sz="1200" b="1" dirty="0" smtClean="0"/>
              <a:t>VARCHAR </a:t>
            </a:r>
            <a:r>
              <a:rPr lang="en-US" sz="1200" b="1" dirty="0"/>
              <a:t>→ DECIMAL(10,2)</a:t>
            </a:r>
          </a:p>
          <a:p>
            <a:endParaRPr lang="en-US" sz="1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66294" y="1197406"/>
            <a:ext cx="5182820" cy="12216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 smtClean="0"/>
              <a:t>-- Verified </a:t>
            </a:r>
            <a:r>
              <a:rPr lang="en-US" sz="1200" i="1" dirty="0"/>
              <a:t>column structure using </a:t>
            </a:r>
            <a:r>
              <a:rPr lang="en-US" sz="1200" b="1" i="1" dirty="0" smtClean="0"/>
              <a:t>INFORMATION_SCHEMA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Font typeface="Arial" pitchFamily="34" charset="0"/>
              <a:buNone/>
            </a:pPr>
            <a:r>
              <a:rPr lang="en-US" sz="1200" dirty="0" smtClean="0"/>
              <a:t>select * from INFORMATION_SCHEMA.COLUMNS where TABLE_NAME = 'pizzas‘ 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select * from pizzas;</a:t>
            </a:r>
            <a:endParaRPr lang="en-US" sz="1200" dirty="0"/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5152" t="6505" r="13861"/>
          <a:stretch/>
        </p:blipFill>
        <p:spPr>
          <a:xfrm>
            <a:off x="143556" y="3393667"/>
            <a:ext cx="3664920" cy="1621363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3866294" y="2572055"/>
            <a:ext cx="5182820" cy="24511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3556" y="2572055"/>
            <a:ext cx="3664919" cy="76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i="1" dirty="0"/>
              <a:t>-- change data type of price column from varchar to decimal</a:t>
            </a:r>
          </a:p>
          <a:p>
            <a:pPr marL="0" indent="0">
              <a:buNone/>
            </a:pPr>
            <a:r>
              <a:rPr lang="en-US" sz="1200" dirty="0"/>
              <a:t>ALTER TABLE pizzas</a:t>
            </a:r>
          </a:p>
          <a:p>
            <a:pPr marL="0" indent="0">
              <a:buNone/>
            </a:pPr>
            <a:r>
              <a:rPr lang="en-US" sz="1200" dirty="0"/>
              <a:t>ALTER COLUMN price DECIMAL(10,2);</a:t>
            </a:r>
          </a:p>
        </p:txBody>
      </p:sp>
    </p:spTree>
    <p:extLst>
      <p:ext uri="{BB962C8B-B14F-4D97-AF65-F5344CB8AC3E}">
        <p14:creationId xmlns:p14="http://schemas.microsoft.com/office/powerpoint/2010/main" val="2231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/>
          <a:p>
            <a:r>
              <a:rPr lang="en-US" dirty="0"/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197406"/>
            <a:ext cx="3815619" cy="916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2. Data Type </a:t>
            </a:r>
            <a:r>
              <a:rPr lang="en-US" sz="1400" b="1" dirty="0" smtClean="0"/>
              <a:t>Correction</a:t>
            </a:r>
          </a:p>
          <a:p>
            <a:pPr marL="0" indent="0">
              <a:buNone/>
            </a:pPr>
            <a:endParaRPr lang="en-US" sz="1200" b="1" dirty="0" smtClean="0"/>
          </a:p>
          <a:p>
            <a:pPr marL="0" indent="0">
              <a:buNone/>
            </a:pPr>
            <a:r>
              <a:rPr lang="en-US" sz="1200" dirty="0"/>
              <a:t>Check </a:t>
            </a:r>
            <a:r>
              <a:rPr lang="en-US" sz="1200" dirty="0" smtClean="0"/>
              <a:t>‘</a:t>
            </a:r>
            <a:r>
              <a:rPr lang="en-US" sz="1200" b="1" dirty="0" smtClean="0"/>
              <a:t>Orders</a:t>
            </a:r>
            <a:r>
              <a:rPr lang="en-US" sz="1200" dirty="0" smtClean="0"/>
              <a:t>’ table and set </a:t>
            </a:r>
            <a:r>
              <a:rPr lang="en-US" sz="1200" dirty="0"/>
              <a:t>appropriate data type for </a:t>
            </a:r>
            <a:r>
              <a:rPr lang="en-US" sz="1200" b="1" dirty="0"/>
              <a:t>date</a:t>
            </a:r>
            <a:r>
              <a:rPr lang="en-US" sz="1200" dirty="0"/>
              <a:t> and </a:t>
            </a:r>
            <a:r>
              <a:rPr lang="en-US" sz="1200" b="1" dirty="0"/>
              <a:t>time</a:t>
            </a:r>
            <a:r>
              <a:rPr lang="en-US" sz="1200" dirty="0"/>
              <a:t> </a:t>
            </a:r>
            <a:r>
              <a:rPr lang="en-US" sz="1200" dirty="0" smtClean="0"/>
              <a:t>column.</a:t>
            </a:r>
            <a:endParaRPr lang="en-US" sz="1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471" y="2266340"/>
            <a:ext cx="3856704" cy="18669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 smtClean="0"/>
              <a:t>-- Verified </a:t>
            </a:r>
            <a:r>
              <a:rPr lang="en-US" sz="1200" i="1" dirty="0"/>
              <a:t>column structure using </a:t>
            </a:r>
            <a:r>
              <a:rPr lang="en-US" sz="1200" b="1" i="1" dirty="0" smtClean="0"/>
              <a:t>INFORMATION_SCHEMA</a:t>
            </a:r>
          </a:p>
          <a:p>
            <a:pPr marL="0" indent="0">
              <a:buNone/>
            </a:pPr>
            <a:r>
              <a:rPr lang="en-US" sz="1200" dirty="0" smtClean="0"/>
              <a:t>select </a:t>
            </a:r>
            <a:r>
              <a:rPr lang="en-US" sz="1200" dirty="0"/>
              <a:t>* from INFORMATION_SCHEMA.COLUMNS where TABLE_NAME = </a:t>
            </a:r>
            <a:r>
              <a:rPr lang="en-US" sz="1200" dirty="0" smtClean="0"/>
              <a:t>'orders‘</a:t>
            </a:r>
          </a:p>
          <a:p>
            <a:pPr marL="0" indent="0">
              <a:buNone/>
            </a:pPr>
            <a:r>
              <a:rPr lang="en-US" sz="1200" dirty="0" smtClean="0"/>
              <a:t>select </a:t>
            </a:r>
            <a:r>
              <a:rPr lang="en-US" sz="1200" dirty="0"/>
              <a:t>* from </a:t>
            </a:r>
            <a:r>
              <a:rPr lang="en-US" sz="1200" dirty="0" smtClean="0"/>
              <a:t>Orders </a:t>
            </a:r>
            <a:r>
              <a:rPr lang="en-US" sz="1200" dirty="0"/>
              <a:t>  </a:t>
            </a:r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i="1" dirty="0" smtClean="0"/>
              <a:t>--Alter </a:t>
            </a:r>
            <a:r>
              <a:rPr lang="en-US" sz="1200" i="1" dirty="0"/>
              <a:t>data type for  date and time </a:t>
            </a:r>
            <a:r>
              <a:rPr lang="en-US" sz="1200" i="1" dirty="0" smtClean="0"/>
              <a:t>column</a:t>
            </a:r>
          </a:p>
          <a:p>
            <a:pPr marL="0" indent="0">
              <a:buNone/>
            </a:pPr>
            <a:r>
              <a:rPr lang="en-US" sz="1200" dirty="0" smtClean="0"/>
              <a:t>ALTER </a:t>
            </a:r>
            <a:r>
              <a:rPr lang="en-US" sz="1200" dirty="0"/>
              <a:t>TABLE </a:t>
            </a:r>
            <a:r>
              <a:rPr lang="en-US" sz="1200" dirty="0" smtClean="0"/>
              <a:t>orders ALTER </a:t>
            </a:r>
            <a:r>
              <a:rPr lang="en-US" sz="1200" dirty="0"/>
              <a:t>COLUMN date </a:t>
            </a:r>
            <a:r>
              <a:rPr lang="en-US" sz="1200" dirty="0" smtClean="0"/>
              <a:t>date</a:t>
            </a:r>
          </a:p>
          <a:p>
            <a:pPr marL="0" indent="0">
              <a:buNone/>
            </a:pPr>
            <a:r>
              <a:rPr lang="en-US" sz="1200" dirty="0" smtClean="0"/>
              <a:t>ALTER </a:t>
            </a:r>
            <a:r>
              <a:rPr lang="en-US" sz="1200" dirty="0"/>
              <a:t>TABLE </a:t>
            </a:r>
            <a:r>
              <a:rPr lang="en-US" sz="1200" dirty="0" smtClean="0"/>
              <a:t>orders ALTER </a:t>
            </a:r>
            <a:r>
              <a:rPr lang="en-US" sz="1200" dirty="0"/>
              <a:t>COLUMN time time;</a:t>
            </a:r>
          </a:p>
        </p:txBody>
      </p:sp>
      <p:pic>
        <p:nvPicPr>
          <p:cNvPr id="12" name="Pictur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4113885" y="2877160"/>
            <a:ext cx="4935229" cy="2235157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113886" y="1197405"/>
            <a:ext cx="4935228" cy="1527050"/>
          </a:xfrm>
          <a:prstGeom prst="rect">
            <a:avLst/>
          </a:prstGeom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143555" y="4251505"/>
            <a:ext cx="3815620" cy="763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In </a:t>
            </a:r>
            <a:r>
              <a:rPr lang="en-US" sz="1200" dirty="0" smtClean="0"/>
              <a:t>‘</a:t>
            </a:r>
            <a:r>
              <a:rPr lang="en-US" sz="1200" b="1" dirty="0"/>
              <a:t>Orders</a:t>
            </a:r>
            <a:r>
              <a:rPr lang="en-US" sz="1200" dirty="0" smtClean="0"/>
              <a:t>’ </a:t>
            </a:r>
            <a:r>
              <a:rPr lang="en-US" sz="1200" dirty="0"/>
              <a:t>table </a:t>
            </a:r>
            <a:r>
              <a:rPr lang="en-US" sz="1200" dirty="0" smtClean="0"/>
              <a:t>converted:</a:t>
            </a:r>
          </a:p>
          <a:p>
            <a:r>
              <a:rPr lang="en-US" sz="1200" b="1" dirty="0" smtClean="0"/>
              <a:t>Date</a:t>
            </a:r>
            <a:r>
              <a:rPr lang="en-US" sz="1200" dirty="0" smtClean="0"/>
              <a:t> column </a:t>
            </a:r>
            <a:r>
              <a:rPr lang="en-US" sz="1200" dirty="0"/>
              <a:t>from </a:t>
            </a:r>
            <a:r>
              <a:rPr lang="en-US" sz="1200" b="1" dirty="0" smtClean="0"/>
              <a:t>VARCHAR </a:t>
            </a:r>
            <a:r>
              <a:rPr lang="en-US" sz="1200" b="1" dirty="0"/>
              <a:t>→ </a:t>
            </a:r>
            <a:r>
              <a:rPr lang="en-US" sz="1200" b="1" dirty="0" smtClean="0"/>
              <a:t>DATE</a:t>
            </a:r>
            <a:endParaRPr lang="en-US" sz="1200" dirty="0"/>
          </a:p>
          <a:p>
            <a:r>
              <a:rPr lang="en-US" sz="1200" b="1" dirty="0" smtClean="0"/>
              <a:t>Time </a:t>
            </a:r>
            <a:r>
              <a:rPr lang="en-US" sz="1200" dirty="0" smtClean="0"/>
              <a:t>column </a:t>
            </a:r>
            <a:r>
              <a:rPr lang="en-US" sz="1200" dirty="0"/>
              <a:t>from </a:t>
            </a:r>
            <a:r>
              <a:rPr lang="en-US" sz="1200" b="1" dirty="0"/>
              <a:t>VARCHAR → </a:t>
            </a:r>
            <a:r>
              <a:rPr lang="en-US" sz="1200" b="1" dirty="0" smtClean="0"/>
              <a:t>TIME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Font typeface="Arial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471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128470"/>
            <a:ext cx="6413610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Business Impact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50360" y="1350110"/>
            <a:ext cx="5793640" cy="30529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Helps </a:t>
            </a:r>
            <a:r>
              <a:rPr lang="en-US" sz="2400" dirty="0"/>
              <a:t>identify high-demand products </a:t>
            </a:r>
          </a:p>
          <a:p>
            <a:r>
              <a:rPr lang="en-US" sz="2400" dirty="0"/>
              <a:t>Supports pricing and promotion strategies </a:t>
            </a:r>
          </a:p>
          <a:p>
            <a:r>
              <a:rPr lang="en-US" sz="2400" dirty="0"/>
              <a:t>Improves operational efficiency </a:t>
            </a:r>
          </a:p>
          <a:p>
            <a:r>
              <a:rPr lang="en-US" sz="2400" dirty="0"/>
              <a:t>Enables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07226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00" y="433880"/>
            <a:ext cx="7626099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</a:t>
            </a:r>
            <a:r>
              <a:rPr lang="en-US" dirty="0" smtClean="0"/>
              <a:t>Sales Analysis </a:t>
            </a:r>
            <a:r>
              <a:rPr lang="en-US" dirty="0"/>
              <a:t>Using </a:t>
            </a:r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350110"/>
            <a:ext cx="3970330" cy="3359510"/>
          </a:xfr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/>
              <a:t>Basic Analysis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Total number of orders </a:t>
            </a:r>
          </a:p>
          <a:p>
            <a:r>
              <a:rPr lang="en-US" sz="1800" dirty="0"/>
              <a:t>Total revenue generated </a:t>
            </a:r>
          </a:p>
          <a:p>
            <a:r>
              <a:rPr lang="en-US" sz="1800" dirty="0"/>
              <a:t>Highest-priced pizza </a:t>
            </a:r>
          </a:p>
          <a:p>
            <a:r>
              <a:rPr lang="en-US" sz="1800" dirty="0"/>
              <a:t>Most common pizza size </a:t>
            </a:r>
          </a:p>
          <a:p>
            <a:r>
              <a:rPr lang="en-US" sz="1800" dirty="0"/>
              <a:t>Top 5 most ordered pizzas </a:t>
            </a:r>
            <a:endParaRPr lang="en-US" sz="1800" dirty="0" smtClean="0"/>
          </a:p>
          <a:p>
            <a:r>
              <a:rPr lang="en-US" sz="1800" dirty="0" smtClean="0"/>
              <a:t>Total </a:t>
            </a:r>
            <a:r>
              <a:rPr lang="en-US" sz="1800" dirty="0"/>
              <a:t>quantity sold by category </a:t>
            </a:r>
            <a:endParaRPr lang="en-US" sz="1800" dirty="0" smtClean="0"/>
          </a:p>
          <a:p>
            <a:r>
              <a:rPr lang="en-US" sz="1800" dirty="0"/>
              <a:t>Category-wise pizza distribution </a:t>
            </a:r>
          </a:p>
          <a:p>
            <a:endParaRPr lang="en-US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0" y="1351898"/>
            <a:ext cx="4123035" cy="33595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/>
              <a:t>Intermediate to Advanced Analysis</a:t>
            </a:r>
          </a:p>
          <a:p>
            <a:pPr marL="0" indent="0">
              <a:buNone/>
            </a:pPr>
            <a:endParaRPr lang="en-US" sz="1800" b="1" dirty="0" smtClean="0"/>
          </a:p>
          <a:p>
            <a:r>
              <a:rPr lang="en-US" sz="1800" dirty="0" smtClean="0"/>
              <a:t>Orders </a:t>
            </a:r>
            <a:r>
              <a:rPr lang="en-US" sz="1800" dirty="0"/>
              <a:t>distribution by hour </a:t>
            </a:r>
          </a:p>
          <a:p>
            <a:r>
              <a:rPr lang="en-US" sz="1800" dirty="0" smtClean="0"/>
              <a:t>Average </a:t>
            </a:r>
            <a:r>
              <a:rPr lang="en-US" sz="1800" dirty="0"/>
              <a:t>pizzas ordered per day </a:t>
            </a:r>
          </a:p>
          <a:p>
            <a:r>
              <a:rPr lang="en-US" sz="1800" dirty="0"/>
              <a:t>Top 3 pizzas based on revenue </a:t>
            </a:r>
            <a:endParaRPr lang="en-US" sz="1800" b="1" dirty="0" smtClean="0"/>
          </a:p>
          <a:p>
            <a:r>
              <a:rPr lang="en-US" sz="1800" dirty="0" smtClean="0"/>
              <a:t>Revenue contribution (%) by category </a:t>
            </a:r>
          </a:p>
          <a:p>
            <a:r>
              <a:rPr lang="en-US" sz="1800" dirty="0" smtClean="0"/>
              <a:t>Cumulative revenue over time </a:t>
            </a:r>
          </a:p>
          <a:p>
            <a:r>
              <a:rPr lang="en-US" sz="1800" dirty="0" smtClean="0"/>
              <a:t>Top 3 pizzas per category (using ranking)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08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1. Retrieve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the total number of orders placed.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910" y="1808225"/>
            <a:ext cx="5296535" cy="20005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3555" y="1808225"/>
            <a:ext cx="3407651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/>
              <a:t>SQL QUERIES</a:t>
            </a:r>
          </a:p>
          <a:p>
            <a:endParaRPr lang="en-US" sz="1400" i="1" dirty="0"/>
          </a:p>
          <a:p>
            <a:r>
              <a:rPr lang="en-US" sz="1400" i="1" dirty="0" smtClean="0"/>
              <a:t>--</a:t>
            </a:r>
            <a:r>
              <a:rPr lang="en-US" sz="1400" i="1" dirty="0"/>
              <a:t>Retrieve the total number of orders placed</a:t>
            </a:r>
            <a:r>
              <a:rPr lang="en-US" sz="1400" i="1" dirty="0" smtClean="0"/>
              <a:t>.</a:t>
            </a:r>
          </a:p>
          <a:p>
            <a:endParaRPr lang="en-US" sz="1400" dirty="0"/>
          </a:p>
          <a:p>
            <a:r>
              <a:rPr lang="en-US" sz="1400" dirty="0" smtClean="0"/>
              <a:t>--</a:t>
            </a:r>
            <a:r>
              <a:rPr lang="en-US" sz="1400" dirty="0"/>
              <a:t>select count(*) from dbo.orders</a:t>
            </a:r>
            <a:r>
              <a:rPr lang="en-US" sz="1400" dirty="0" smtClean="0"/>
              <a:t>;</a:t>
            </a:r>
          </a:p>
          <a:p>
            <a:endParaRPr lang="en-US" sz="1400" dirty="0"/>
          </a:p>
          <a:p>
            <a:r>
              <a:rPr lang="en-US" sz="1400" dirty="0" smtClean="0"/>
              <a:t>select </a:t>
            </a:r>
            <a:r>
              <a:rPr lang="en-US" sz="1400" dirty="0"/>
              <a:t>count(order_id) as total_orders from dbo.orders</a:t>
            </a:r>
            <a:r>
              <a:rPr lang="en-US" sz="1400" dirty="0" smtClean="0"/>
              <a:t>;</a:t>
            </a:r>
          </a:p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143555" y="4098800"/>
            <a:ext cx="8856890" cy="4517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dirty="0" smtClean="0">
                <a:solidFill>
                  <a:schemeClr val="tx1"/>
                </a:solidFill>
                <a:effectLst/>
              </a:rPr>
              <a:t>The total number </a:t>
            </a:r>
            <a:r>
              <a:rPr lang="en-US" sz="2400" dirty="0">
                <a:solidFill>
                  <a:schemeClr val="tx1"/>
                </a:solidFill>
                <a:effectLst/>
              </a:rPr>
              <a:t>of orders 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placed are 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21350.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439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2. Calculate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the total revenue generated from pizza sales.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5" y="1808225"/>
            <a:ext cx="3407651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/>
              <a:t>SQL QUERIES</a:t>
            </a:r>
          </a:p>
          <a:p>
            <a:endParaRPr lang="en-US" sz="1400" i="1" dirty="0"/>
          </a:p>
          <a:p>
            <a:r>
              <a:rPr lang="en-US" sz="1400" i="1" dirty="0"/>
              <a:t>--Calculate the total revenue generated from pizza sales</a:t>
            </a:r>
            <a:r>
              <a:rPr lang="en-US" sz="1400" i="1" dirty="0" smtClean="0"/>
              <a:t>.</a:t>
            </a:r>
          </a:p>
          <a:p>
            <a:endParaRPr lang="en-US" sz="1400" dirty="0"/>
          </a:p>
          <a:p>
            <a:r>
              <a:rPr lang="en-US" sz="1400" dirty="0" smtClean="0"/>
              <a:t>select </a:t>
            </a:r>
            <a:r>
              <a:rPr lang="en-US" sz="1400" dirty="0"/>
              <a:t>round(sum(o.quantity * p.price),2) as </a:t>
            </a:r>
            <a:r>
              <a:rPr lang="en-US" sz="1400" dirty="0" smtClean="0"/>
              <a:t>total_revenue </a:t>
            </a:r>
          </a:p>
          <a:p>
            <a:r>
              <a:rPr lang="en-US" sz="1400" dirty="0" smtClean="0"/>
              <a:t>from </a:t>
            </a:r>
            <a:r>
              <a:rPr lang="en-US" sz="1400" dirty="0"/>
              <a:t>order_details o  join pizzas p on o.pizza_id = p.pizza_id  ;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143555" y="4098800"/>
            <a:ext cx="8856890" cy="4517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dirty="0" smtClean="0">
                <a:solidFill>
                  <a:schemeClr val="tx1"/>
                </a:solidFill>
                <a:effectLst/>
              </a:rPr>
              <a:t>The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total revenue </a:t>
            </a:r>
            <a:r>
              <a:rPr lang="en-US" sz="2400" dirty="0">
                <a:solidFill>
                  <a:schemeClr val="tx1"/>
                </a:solidFill>
                <a:effectLst/>
              </a:rPr>
              <a:t>generated from pizza sales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is ₹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817860.05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655770" y="1749300"/>
            <a:ext cx="5368287" cy="20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8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3. Identify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the highest-priced pizza.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5" y="1808225"/>
            <a:ext cx="3407651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noProof="1" smtClean="0"/>
              <a:t>SQL QUERIES</a:t>
            </a:r>
          </a:p>
          <a:p>
            <a:r>
              <a:rPr lang="en-US" sz="1400" i="1" noProof="1" smtClean="0"/>
              <a:t>--Identify the highest-priced pizza.</a:t>
            </a:r>
          </a:p>
          <a:p>
            <a:endParaRPr lang="en-US" sz="1400" noProof="1" smtClean="0"/>
          </a:p>
          <a:p>
            <a:r>
              <a:rPr lang="en-US" sz="1400" noProof="1" smtClean="0"/>
              <a:t>select top 1 </a:t>
            </a:r>
          </a:p>
          <a:p>
            <a:r>
              <a:rPr lang="en-US" sz="1400" noProof="1" smtClean="0"/>
              <a:t>name , </a:t>
            </a:r>
          </a:p>
          <a:p>
            <a:r>
              <a:rPr lang="en-US" sz="1400" noProof="1" smtClean="0"/>
              <a:t>price </a:t>
            </a:r>
          </a:p>
          <a:p>
            <a:r>
              <a:rPr lang="en-US" sz="1400" noProof="1" smtClean="0"/>
              <a:t>from pizza_type pt </a:t>
            </a:r>
          </a:p>
          <a:p>
            <a:r>
              <a:rPr lang="en-US" sz="1400" noProof="1" smtClean="0"/>
              <a:t>inner join pizzas p </a:t>
            </a:r>
          </a:p>
          <a:p>
            <a:r>
              <a:rPr lang="en-US" sz="1400" noProof="1" smtClean="0"/>
              <a:t>on pt.pizza_type_id = p.pizza_type_id</a:t>
            </a:r>
          </a:p>
          <a:p>
            <a:r>
              <a:rPr lang="en-US" sz="1400" noProof="1" smtClean="0"/>
              <a:t>order by price desc</a:t>
            </a:r>
            <a:endParaRPr lang="en-US" sz="1200" noProof="1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143555" y="4257856"/>
            <a:ext cx="8856890" cy="4517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dirty="0" smtClean="0">
                <a:solidFill>
                  <a:schemeClr val="tx1"/>
                </a:solidFill>
                <a:effectLst/>
              </a:rPr>
              <a:t>The </a:t>
            </a:r>
            <a:r>
              <a:rPr lang="en-US" sz="2400" dirty="0">
                <a:solidFill>
                  <a:schemeClr val="tx1"/>
                </a:solidFill>
                <a:effectLst/>
              </a:rPr>
              <a:t>highest-priced pizza 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is ‘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The Greek Pizza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’ with price ₹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35.95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2"/>
          <a:srcRect r="15429"/>
          <a:stretch/>
        </p:blipFill>
        <p:spPr>
          <a:xfrm>
            <a:off x="3655769" y="1808224"/>
            <a:ext cx="5344676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0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>
                <a:solidFill>
                  <a:schemeClr val="tx1"/>
                </a:solidFill>
                <a:effectLst/>
              </a:rPr>
              <a:t>4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.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Identify the most common pizza size ordered.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5" y="1808225"/>
            <a:ext cx="4123035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noProof="1" smtClean="0"/>
              <a:t>SQL QUERIES</a:t>
            </a:r>
          </a:p>
          <a:p>
            <a:endParaRPr lang="en-US" sz="1400" b="1" noProof="1" smtClean="0"/>
          </a:p>
          <a:p>
            <a:r>
              <a:rPr lang="en-US" sz="1400" i="1" noProof="1" smtClean="0">
                <a:solidFill>
                  <a:srgbClr val="008000"/>
                </a:solidFill>
              </a:rPr>
              <a:t>--Identify the most common pizza size ordered.</a:t>
            </a:r>
          </a:p>
          <a:p>
            <a:endParaRPr lang="en-US" sz="1400" noProof="1" smtClean="0">
              <a:solidFill>
                <a:srgbClr val="008000"/>
              </a:solidFill>
            </a:endParaRPr>
          </a:p>
          <a:p>
            <a:r>
              <a:rPr lang="en-US" sz="1400" noProof="1" smtClean="0">
                <a:solidFill>
                  <a:srgbClr val="0000FF"/>
                </a:solidFill>
              </a:rPr>
              <a:t>select</a:t>
            </a:r>
            <a:r>
              <a:rPr lang="en-US" sz="1400" noProof="1" smtClean="0">
                <a:solidFill>
                  <a:srgbClr val="000000"/>
                </a:solidFill>
              </a:rPr>
              <a:t> p</a:t>
            </a:r>
            <a:r>
              <a:rPr lang="en-US" sz="1400" noProof="1" smtClean="0">
                <a:solidFill>
                  <a:srgbClr val="808080"/>
                </a:solidFill>
              </a:rPr>
              <a:t>.</a:t>
            </a:r>
            <a:r>
              <a:rPr lang="en-US" sz="1400" noProof="1" smtClean="0">
                <a:solidFill>
                  <a:srgbClr val="0000FF"/>
                </a:solidFill>
              </a:rPr>
              <a:t>size</a:t>
            </a:r>
            <a:r>
              <a:rPr lang="en-US" sz="1400" noProof="1" smtClean="0">
                <a:solidFill>
                  <a:srgbClr val="808080"/>
                </a:solidFill>
              </a:rPr>
              <a:t>,</a:t>
            </a:r>
            <a:r>
              <a:rPr lang="en-US" sz="1400" noProof="1" smtClean="0">
                <a:solidFill>
                  <a:srgbClr val="000000"/>
                </a:solidFill>
              </a:rPr>
              <a:t> </a:t>
            </a:r>
            <a:r>
              <a:rPr lang="en-US" sz="1400" noProof="1" smtClean="0">
                <a:solidFill>
                  <a:srgbClr val="FF00FF"/>
                </a:solidFill>
              </a:rPr>
              <a:t>count</a:t>
            </a:r>
            <a:r>
              <a:rPr lang="en-US" sz="1400" noProof="1" smtClean="0">
                <a:solidFill>
                  <a:srgbClr val="808080"/>
                </a:solidFill>
              </a:rPr>
              <a:t>(</a:t>
            </a:r>
            <a:r>
              <a:rPr lang="en-US" sz="1400" noProof="1" smtClean="0">
                <a:solidFill>
                  <a:srgbClr val="000000"/>
                </a:solidFill>
              </a:rPr>
              <a:t>od</a:t>
            </a:r>
            <a:r>
              <a:rPr lang="en-US" sz="1400" noProof="1" smtClean="0">
                <a:solidFill>
                  <a:srgbClr val="808080"/>
                </a:solidFill>
              </a:rPr>
              <a:t>.</a:t>
            </a:r>
            <a:r>
              <a:rPr lang="en-US" sz="1400" noProof="1" smtClean="0">
                <a:solidFill>
                  <a:srgbClr val="000000"/>
                </a:solidFill>
              </a:rPr>
              <a:t>order_details_id</a:t>
            </a:r>
            <a:r>
              <a:rPr lang="en-US" sz="1400" noProof="1" smtClean="0">
                <a:solidFill>
                  <a:srgbClr val="808080"/>
                </a:solidFill>
              </a:rPr>
              <a:t>)</a:t>
            </a:r>
            <a:r>
              <a:rPr lang="en-US" sz="1400" noProof="1" smtClean="0">
                <a:solidFill>
                  <a:srgbClr val="000000"/>
                </a:solidFill>
              </a:rPr>
              <a:t> order_count</a:t>
            </a:r>
            <a:r>
              <a:rPr lang="en-US" sz="1400" noProof="1" smtClean="0">
                <a:solidFill>
                  <a:srgbClr val="0000FF"/>
                </a:solidFill>
              </a:rPr>
              <a:t>from</a:t>
            </a:r>
            <a:r>
              <a:rPr lang="en-US" sz="1400" noProof="1" smtClean="0">
                <a:solidFill>
                  <a:srgbClr val="000000"/>
                </a:solidFill>
              </a:rPr>
              <a:t> pizzas p </a:t>
            </a:r>
          </a:p>
          <a:p>
            <a:r>
              <a:rPr lang="en-US" sz="1400" noProof="1" smtClean="0">
                <a:solidFill>
                  <a:srgbClr val="808080"/>
                </a:solidFill>
              </a:rPr>
              <a:t>inner</a:t>
            </a:r>
            <a:r>
              <a:rPr lang="en-US" sz="1400" noProof="1" smtClean="0">
                <a:solidFill>
                  <a:srgbClr val="000000"/>
                </a:solidFill>
              </a:rPr>
              <a:t> </a:t>
            </a:r>
            <a:r>
              <a:rPr lang="en-US" sz="1400" noProof="1" smtClean="0">
                <a:solidFill>
                  <a:srgbClr val="808080"/>
                </a:solidFill>
              </a:rPr>
              <a:t>join</a:t>
            </a:r>
            <a:r>
              <a:rPr lang="en-US" sz="1400" noProof="1" smtClean="0">
                <a:solidFill>
                  <a:srgbClr val="000000"/>
                </a:solidFill>
              </a:rPr>
              <a:t> order_details od </a:t>
            </a:r>
          </a:p>
          <a:p>
            <a:r>
              <a:rPr lang="en-US" sz="1400" noProof="1" smtClean="0">
                <a:solidFill>
                  <a:srgbClr val="0000FF"/>
                </a:solidFill>
              </a:rPr>
              <a:t>on</a:t>
            </a:r>
            <a:r>
              <a:rPr lang="en-US" sz="1400" noProof="1" smtClean="0">
                <a:solidFill>
                  <a:srgbClr val="000000"/>
                </a:solidFill>
              </a:rPr>
              <a:t> od</a:t>
            </a:r>
            <a:r>
              <a:rPr lang="en-US" sz="1400" noProof="1" smtClean="0">
                <a:solidFill>
                  <a:srgbClr val="808080"/>
                </a:solidFill>
              </a:rPr>
              <a:t>.</a:t>
            </a:r>
            <a:r>
              <a:rPr lang="en-US" sz="1400" noProof="1" smtClean="0">
                <a:solidFill>
                  <a:srgbClr val="000000"/>
                </a:solidFill>
              </a:rPr>
              <a:t>pizza_id </a:t>
            </a:r>
            <a:r>
              <a:rPr lang="en-US" sz="1400" noProof="1" smtClean="0">
                <a:solidFill>
                  <a:srgbClr val="808080"/>
                </a:solidFill>
              </a:rPr>
              <a:t>=</a:t>
            </a:r>
            <a:r>
              <a:rPr lang="en-US" sz="1400" noProof="1" smtClean="0">
                <a:solidFill>
                  <a:srgbClr val="000000"/>
                </a:solidFill>
              </a:rPr>
              <a:t> p</a:t>
            </a:r>
            <a:r>
              <a:rPr lang="en-US" sz="1400" noProof="1" smtClean="0">
                <a:solidFill>
                  <a:srgbClr val="808080"/>
                </a:solidFill>
              </a:rPr>
              <a:t>.</a:t>
            </a:r>
            <a:r>
              <a:rPr lang="en-US" sz="1400" noProof="1" smtClean="0">
                <a:solidFill>
                  <a:srgbClr val="000000"/>
                </a:solidFill>
              </a:rPr>
              <a:t>pizza_id </a:t>
            </a:r>
          </a:p>
          <a:p>
            <a:r>
              <a:rPr lang="en-US" sz="1400" noProof="1" smtClean="0">
                <a:solidFill>
                  <a:srgbClr val="0000FF"/>
                </a:solidFill>
              </a:rPr>
              <a:t>group</a:t>
            </a:r>
            <a:r>
              <a:rPr lang="en-US" sz="1400" noProof="1" smtClean="0">
                <a:solidFill>
                  <a:srgbClr val="000000"/>
                </a:solidFill>
              </a:rPr>
              <a:t> </a:t>
            </a:r>
            <a:r>
              <a:rPr lang="en-US" sz="1400" noProof="1" smtClean="0">
                <a:solidFill>
                  <a:srgbClr val="0000FF"/>
                </a:solidFill>
              </a:rPr>
              <a:t>by</a:t>
            </a:r>
            <a:r>
              <a:rPr lang="en-US" sz="1400" noProof="1" smtClean="0">
                <a:solidFill>
                  <a:srgbClr val="000000"/>
                </a:solidFill>
              </a:rPr>
              <a:t> p</a:t>
            </a:r>
            <a:r>
              <a:rPr lang="en-US" sz="1400" noProof="1" smtClean="0">
                <a:solidFill>
                  <a:srgbClr val="808080"/>
                </a:solidFill>
              </a:rPr>
              <a:t>.</a:t>
            </a:r>
            <a:r>
              <a:rPr lang="en-US" sz="1400" noProof="1" smtClean="0">
                <a:solidFill>
                  <a:srgbClr val="0000FF"/>
                </a:solidFill>
              </a:rPr>
              <a:t>size</a:t>
            </a:r>
          </a:p>
          <a:p>
            <a:r>
              <a:rPr lang="en-US" sz="1400" noProof="1" smtClean="0">
                <a:solidFill>
                  <a:srgbClr val="0000FF"/>
                </a:solidFill>
              </a:rPr>
              <a:t>order</a:t>
            </a:r>
            <a:r>
              <a:rPr lang="en-US" sz="1400" noProof="1" smtClean="0">
                <a:solidFill>
                  <a:srgbClr val="000000"/>
                </a:solidFill>
              </a:rPr>
              <a:t> </a:t>
            </a:r>
            <a:r>
              <a:rPr lang="en-US" sz="1400" noProof="1" smtClean="0">
                <a:solidFill>
                  <a:srgbClr val="0000FF"/>
                </a:solidFill>
              </a:rPr>
              <a:t>by</a:t>
            </a:r>
            <a:r>
              <a:rPr lang="en-US" sz="1400" noProof="1" smtClean="0">
                <a:solidFill>
                  <a:srgbClr val="000000"/>
                </a:solidFill>
              </a:rPr>
              <a:t> order_count </a:t>
            </a:r>
            <a:r>
              <a:rPr lang="en-US" sz="1400" noProof="1" smtClean="0">
                <a:solidFill>
                  <a:srgbClr val="0000FF"/>
                </a:solidFill>
              </a:rPr>
              <a:t>desc</a:t>
            </a:r>
            <a:endParaRPr lang="en-US" sz="1400" noProof="1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143555" y="4257855"/>
            <a:ext cx="4123035" cy="757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dirty="0" smtClean="0">
                <a:solidFill>
                  <a:schemeClr val="tx1"/>
                </a:solidFill>
                <a:effectLst/>
              </a:rPr>
              <a:t>The most common sized is ‘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Large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’ sized pizza with 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18526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 orders.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2"/>
          <a:srcRect r="14825"/>
          <a:stretch/>
        </p:blipFill>
        <p:spPr>
          <a:xfrm>
            <a:off x="4448130" y="1808224"/>
            <a:ext cx="4552315" cy="320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7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1800" b="1" dirty="0" smtClean="0">
                <a:solidFill>
                  <a:schemeClr val="tx1"/>
                </a:solidFill>
                <a:effectLst/>
              </a:rPr>
              <a:t>5. List </a:t>
            </a:r>
            <a:r>
              <a:rPr lang="en-US" sz="1800" b="1" dirty="0">
                <a:solidFill>
                  <a:schemeClr val="tx1"/>
                </a:solidFill>
                <a:effectLst/>
              </a:rPr>
              <a:t>the top 5 most ordered pizza types along with their quantities.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56" y="1743677"/>
            <a:ext cx="3664920" cy="329320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noProof="1" smtClean="0"/>
              <a:t>SQL QUERIES</a:t>
            </a:r>
          </a:p>
          <a:p>
            <a:endParaRPr lang="en-US" sz="1400" b="1" noProof="1" smtClean="0"/>
          </a:p>
          <a:p>
            <a:r>
              <a:rPr lang="en-US" sz="1200" noProof="1" smtClean="0">
                <a:solidFill>
                  <a:srgbClr val="008000"/>
                </a:solidFill>
                <a:latin typeface="Cascadia Mono"/>
              </a:rPr>
              <a:t>--List the top 5 most ordered pizza types along with their quantities.</a:t>
            </a:r>
          </a:p>
          <a:p>
            <a:endParaRPr lang="en-US" sz="1200" noProof="1" smtClean="0">
              <a:solidFill>
                <a:srgbClr val="008000"/>
              </a:solidFill>
              <a:latin typeface="Cascadia Mono"/>
            </a:endParaRPr>
          </a:p>
          <a:p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select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top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5 pt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name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,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</a:p>
          <a:p>
            <a:r>
              <a:rPr lang="en-US" sz="1200" noProof="1" smtClean="0">
                <a:solidFill>
                  <a:srgbClr val="FF00FF"/>
                </a:solidFill>
                <a:latin typeface="Cascadia Mono"/>
              </a:rPr>
              <a:t>sum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(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od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quantity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)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total_quantity</a:t>
            </a:r>
          </a:p>
          <a:p>
            <a:endParaRPr lang="en-US" sz="1200" noProof="1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from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pizza_type pt </a:t>
            </a:r>
          </a:p>
          <a:p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inner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join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pizzas p </a:t>
            </a:r>
          </a:p>
          <a:p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on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pt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pizza_type_id 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=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pizza_type_id</a:t>
            </a:r>
          </a:p>
          <a:p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inner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join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order_details od 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on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od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pizza_id 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=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pizza_id</a:t>
            </a:r>
          </a:p>
          <a:p>
            <a:endParaRPr lang="en-US" sz="1200" noProof="1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group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by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pt</a:t>
            </a:r>
            <a:r>
              <a:rPr lang="en-US" sz="1200" noProof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name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</a:p>
          <a:p>
            <a:endParaRPr lang="en-US" sz="1200" noProof="1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order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by</a:t>
            </a:r>
            <a:r>
              <a:rPr lang="en-US" sz="1200" noProof="1" smtClean="0">
                <a:solidFill>
                  <a:srgbClr val="000000"/>
                </a:solidFill>
                <a:latin typeface="Cascadia Mono"/>
              </a:rPr>
              <a:t> total_quantity </a:t>
            </a:r>
            <a:r>
              <a:rPr lang="en-US" sz="1200" noProof="1" smtClean="0">
                <a:solidFill>
                  <a:srgbClr val="0000FF"/>
                </a:solidFill>
                <a:latin typeface="Cascadia Mono"/>
              </a:rPr>
              <a:t>desc</a:t>
            </a:r>
            <a:endParaRPr lang="en-US" sz="1200" b="1" noProof="1" smtClean="0"/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3961180" y="2877160"/>
            <a:ext cx="5039265" cy="21378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6516" t="4678" r="10832" b="55263"/>
          <a:stretch/>
        </p:blipFill>
        <p:spPr>
          <a:xfrm>
            <a:off x="3961180" y="1743677"/>
            <a:ext cx="5039263" cy="1097281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 rotWithShape="1">
          <a:blip r:embed="rId2"/>
          <a:srcRect l="4462" t="61048" r="61348" b="4392"/>
          <a:stretch/>
        </p:blipFill>
        <p:spPr>
          <a:xfrm>
            <a:off x="4087905" y="3215715"/>
            <a:ext cx="4759836" cy="16790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87905" y="2877160"/>
            <a:ext cx="4759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</a:t>
            </a:r>
            <a:r>
              <a:rPr lang="en-US" sz="1600" b="1" dirty="0" smtClean="0"/>
              <a:t> top most ordered pizza </a:t>
            </a:r>
            <a:r>
              <a:rPr lang="en-US" sz="1600" dirty="0" smtClean="0"/>
              <a:t>type are</a:t>
            </a:r>
            <a:r>
              <a:rPr lang="en-US" sz="1600" b="1" dirty="0" smtClean="0"/>
              <a:t>: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8278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6. Join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the necessary tables to find the total quantity of each pizza category ordered.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6" y="1808225"/>
            <a:ext cx="3817624" cy="32624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noProof="1" smtClean="0"/>
              <a:t>SQL QUERIES</a:t>
            </a:r>
          </a:p>
          <a:p>
            <a:endParaRPr lang="en-US" sz="1200" dirty="0" smtClean="0">
              <a:solidFill>
                <a:srgbClr val="008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8000"/>
                </a:solidFill>
                <a:latin typeface="Cascadia Mono"/>
              </a:rPr>
              <a:t>--</a:t>
            </a:r>
            <a:r>
              <a:rPr lang="en-US" sz="1200" i="1" dirty="0">
                <a:solidFill>
                  <a:srgbClr val="008000"/>
                </a:solidFill>
                <a:latin typeface="Cascadia Mono"/>
                <a:ea typeface="Calibri"/>
                <a:cs typeface="Mangal"/>
              </a:rPr>
              <a:t>Join the necessary tables to find the total quantity of each pizza category ordered</a:t>
            </a:r>
            <a:r>
              <a:rPr lang="en-US" sz="1200" i="1" dirty="0" smtClean="0">
                <a:solidFill>
                  <a:srgbClr val="008000"/>
                </a:solidFill>
                <a:latin typeface="Cascadia Mono"/>
                <a:ea typeface="Calibri"/>
                <a:cs typeface="Mangal"/>
              </a:rPr>
              <a:t>.</a:t>
            </a:r>
          </a:p>
          <a:p>
            <a:endParaRPr lang="en-US" sz="1200" i="1" dirty="0">
              <a:solidFill>
                <a:srgbClr val="008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select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/>
              </a:rPr>
              <a:t>pt</a:t>
            </a:r>
            <a:r>
              <a:rPr lang="en-US" sz="1200" dirty="0" err="1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ascadia Mono"/>
              </a:rPr>
              <a:t>category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FF00FF"/>
                </a:solidFill>
                <a:latin typeface="Cascadia Mono"/>
              </a:rPr>
              <a:t>sum</a:t>
            </a:r>
            <a:r>
              <a:rPr lang="en-US" sz="1200" dirty="0" smtClean="0">
                <a:solidFill>
                  <a:srgbClr val="808080"/>
                </a:solidFill>
                <a:latin typeface="Cascadia Mono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od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quantity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total_pizza_qty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from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Pizza_type 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pt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808080"/>
                </a:solidFill>
                <a:latin typeface="Cascadia Mono"/>
              </a:rPr>
              <a:t>inner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join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pizzas p 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on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/>
              </a:rPr>
              <a:t>pt</a:t>
            </a:r>
            <a:r>
              <a:rPr lang="en-US" sz="1200" dirty="0" err="1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ascadia Mono"/>
              </a:rPr>
              <a:t>pizza_type_id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p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pizza_type_id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808080"/>
                </a:solidFill>
                <a:latin typeface="Cascadia Mono"/>
              </a:rPr>
              <a:t>inner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join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order_details od 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on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od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pizza_id </a:t>
            </a:r>
            <a:r>
              <a:rPr lang="en-US" sz="1200" dirty="0">
                <a:solidFill>
                  <a:srgbClr val="808080"/>
                </a:solidFill>
                <a:latin typeface="Cascadia Mono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p</a:t>
            </a:r>
            <a:r>
              <a:rPr lang="en-US" sz="1200" dirty="0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pizza_id</a:t>
            </a:r>
          </a:p>
          <a:p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group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/>
              </a:rPr>
              <a:t>by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pt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</a:rPr>
              <a:t>.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</a:rPr>
              <a:t>category</a:t>
            </a:r>
            <a:endParaRPr lang="en-US" sz="1200" dirty="0" smtClean="0">
              <a:solidFill>
                <a:srgbClr val="000000"/>
              </a:solidFill>
              <a:latin typeface="Cascadia Mono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/>
              </a:rPr>
              <a:t>order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/>
              </a:rPr>
              <a:t>by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/>
              </a:rPr>
              <a:t>total_pizza_qty</a:t>
            </a:r>
            <a:r>
              <a:rPr lang="en-US" sz="12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Cascadia Mono"/>
              </a:rPr>
              <a:t>desc</a:t>
            </a:r>
            <a:r>
              <a:rPr lang="en-US" sz="1200" dirty="0"/>
              <a:t> </a:t>
            </a:r>
            <a:endParaRPr lang="en-US" sz="1200" dirty="0" smtClean="0"/>
          </a:p>
          <a:p>
            <a:endParaRPr lang="en-US" sz="1200" noProof="1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4113885" y="1808224"/>
            <a:ext cx="4886560" cy="32624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1950" t="56297" r="75041"/>
          <a:stretch/>
        </p:blipFill>
        <p:spPr>
          <a:xfrm>
            <a:off x="4266590" y="2419045"/>
            <a:ext cx="4581150" cy="2443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3885" y="1960930"/>
            <a:ext cx="488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The </a:t>
            </a:r>
            <a:r>
              <a:rPr lang="en-US" b="1" dirty="0"/>
              <a:t>total quantity </a:t>
            </a:r>
            <a:r>
              <a:rPr lang="en-US" dirty="0"/>
              <a:t>of each </a:t>
            </a:r>
            <a:r>
              <a:rPr lang="en-US" b="1" dirty="0"/>
              <a:t>pizza category </a:t>
            </a:r>
            <a:r>
              <a:rPr lang="en-US" dirty="0" smtClean="0"/>
              <a:t>ordered: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7.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Determine the distribution of orders by hour of the day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6" y="1808225"/>
            <a:ext cx="3817624" cy="32008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noProof="1" smtClean="0"/>
              <a:t>SQL QUERIES</a:t>
            </a:r>
          </a:p>
          <a:p>
            <a:endParaRPr lang="en-US" sz="1400" b="1" i="1" noProof="1">
              <a:solidFill>
                <a:srgbClr val="008000"/>
              </a:solidFill>
              <a:latin typeface="Cascadia Mono"/>
              <a:ea typeface="Times New Roman"/>
              <a:cs typeface="Courier New"/>
            </a:endParaRPr>
          </a:p>
          <a:p>
            <a:r>
              <a:rPr lang="en-US" sz="1200" i="1" dirty="0" smtClean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--Determine </a:t>
            </a:r>
            <a:r>
              <a:rPr lang="en-US" sz="1200" i="1" dirty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the distribution of orders by hour of the day.</a:t>
            </a:r>
            <a:endParaRPr lang="en-US" sz="1200" i="1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 </a:t>
            </a:r>
            <a:endParaRPr lang="en-US" sz="12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endParaRPr lang="en-US" sz="12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datepart</a:t>
            </a:r>
            <a:r>
              <a:rPr lang="en-US" sz="1200" dirty="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200" dirty="0" err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hour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200" dirty="0" err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time</a:t>
            </a:r>
            <a:r>
              <a:rPr lang="en-US" sz="12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hour_value</a:t>
            </a:r>
            <a:r>
              <a:rPr lang="en-US" sz="12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endParaRPr lang="en-US" sz="12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count</a:t>
            </a:r>
            <a:r>
              <a:rPr lang="en-US" sz="1200" dirty="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</a:t>
            </a:r>
            <a:r>
              <a:rPr lang="en-US" sz="1200" dirty="0" err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2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</a:t>
            </a:r>
            <a:r>
              <a:rPr lang="en-US" sz="12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order_count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2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orders </a:t>
            </a:r>
            <a:r>
              <a:rPr lang="en-US" sz="12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2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group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 err="1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datepart</a:t>
            </a:r>
            <a:r>
              <a:rPr lang="en-US" sz="12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200" dirty="0" err="1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hour</a:t>
            </a:r>
            <a:r>
              <a:rPr lang="en-US" sz="1200" dirty="0" err="1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2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</a:t>
            </a:r>
            <a:r>
              <a:rPr lang="en-US" sz="1200" dirty="0" err="1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200" dirty="0" err="1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time</a:t>
            </a:r>
            <a:r>
              <a:rPr lang="en-US" sz="1200" dirty="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2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order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2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hour_value</a:t>
            </a:r>
            <a:endParaRPr lang="en-US" sz="1200" dirty="0">
              <a:ea typeface="Calibri"/>
              <a:cs typeface="Mangal"/>
            </a:endParaRPr>
          </a:p>
          <a:p>
            <a:endParaRPr lang="en-US" sz="1200" noProof="1">
              <a:solidFill>
                <a:schemeClr val="tx1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4113885" y="1808224"/>
            <a:ext cx="4886560" cy="32008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" b="2685"/>
          <a:stretch/>
        </p:blipFill>
        <p:spPr bwMode="auto">
          <a:xfrm>
            <a:off x="6490524" y="1947134"/>
            <a:ext cx="2456131" cy="294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59010" y="2724455"/>
            <a:ext cx="224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b="1" dirty="0"/>
              <a:t>distribution of orders by hour </a:t>
            </a:r>
            <a:r>
              <a:rPr lang="en-US" dirty="0"/>
              <a:t>of the </a:t>
            </a:r>
            <a:r>
              <a:rPr lang="en-US" dirty="0" smtClean="0"/>
              <a:t>day.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3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b="1" dirty="0" smtClean="0">
                <a:solidFill>
                  <a:schemeClr val="tx1"/>
                </a:solidFill>
                <a:effectLst/>
              </a:rPr>
              <a:t>9. Group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the orders by date and calculate the average number of pizzas ordered per day.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555" y="1808225"/>
            <a:ext cx="3817625" cy="272382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noProof="1" smtClean="0">
                <a:latin typeface="+mj-lt"/>
              </a:rPr>
              <a:t>SQL QUERIES</a:t>
            </a:r>
            <a:endParaRPr lang="en-US" sz="1600" b="1" noProof="1" smtClean="0">
              <a:solidFill>
                <a:srgbClr val="008000"/>
              </a:solidFill>
              <a:latin typeface="+mj-lt"/>
              <a:cs typeface="Courier New"/>
            </a:endParaRPr>
          </a:p>
          <a:p>
            <a:endParaRPr lang="en-US" sz="1200" b="1" noProof="1" smtClean="0">
              <a:solidFill>
                <a:srgbClr val="008000"/>
              </a:solidFill>
              <a:latin typeface="Cascadia Mono"/>
              <a:ea typeface="Times New Roman"/>
              <a:cs typeface="Courier New"/>
            </a:endParaRPr>
          </a:p>
          <a:p>
            <a:r>
              <a:rPr lang="en-US" sz="1100" i="1" noProof="1" smtClean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--Group the orders by date and calculate the average number of pizzas ordered per day.</a:t>
            </a:r>
          </a:p>
          <a:p>
            <a:endParaRPr lang="en-US" sz="1100" i="1" noProof="1" smtClean="0">
              <a:solidFill>
                <a:srgbClr val="008000"/>
              </a:solidFill>
              <a:latin typeface="Cascadia Mono"/>
              <a:ea typeface="Times New Roman"/>
              <a:cs typeface="Courier New"/>
            </a:endParaRP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</a:p>
          <a:p>
            <a:r>
              <a:rPr lang="en-US" sz="11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avg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1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cast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total_qty 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decimal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10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2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)))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average</a:t>
            </a:r>
            <a:endParaRPr lang="en-US" sz="1100" noProof="1" smtClean="0">
              <a:ea typeface="Times New Roman"/>
              <a:cs typeface="Courier New"/>
            </a:endParaRP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total_qty</a:t>
            </a:r>
            <a:endParaRPr lang="en-US" sz="1100" noProof="1" smtClean="0">
              <a:ea typeface="Times New Roman"/>
              <a:cs typeface="Courier New"/>
            </a:endParaRP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orders o		</a:t>
            </a:r>
            <a:endParaRPr lang="en-US" sz="1100" noProof="1" smtClean="0">
              <a:ea typeface="Times New Roman"/>
              <a:cs typeface="Courier New"/>
            </a:endParaRPr>
          </a:p>
          <a:p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order_details od </a:t>
            </a: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 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</a:t>
            </a:r>
            <a:endParaRPr lang="en-US" sz="1100" noProof="1" smtClean="0">
              <a:solidFill>
                <a:srgbClr val="0000FF"/>
              </a:solidFill>
              <a:latin typeface="Cascadia Mono"/>
              <a:ea typeface="Times New Roman"/>
              <a:cs typeface="Courier New"/>
            </a:endParaRPr>
          </a:p>
          <a:p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group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</a:p>
          <a:p>
            <a:r>
              <a:rPr lang="en-US" sz="11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1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total_qty_per_day</a:t>
            </a:r>
            <a:endParaRPr lang="en-US" sz="1100" noProof="1">
              <a:ea typeface="Calibri"/>
              <a:cs typeface="Mangal"/>
            </a:endParaRPr>
          </a:p>
        </p:txBody>
      </p:sp>
      <p:pic>
        <p:nvPicPr>
          <p:cNvPr id="15" name="Picture 14"/>
          <p:cNvPicPr/>
          <p:nvPr/>
        </p:nvPicPr>
        <p:blipFill rotWithShape="1">
          <a:blip r:embed="rId2"/>
          <a:srcRect l="3303" r="39864" b="6009"/>
          <a:stretch/>
        </p:blipFill>
        <p:spPr>
          <a:xfrm>
            <a:off x="4113885" y="1808225"/>
            <a:ext cx="4886560" cy="2723823"/>
          </a:xfrm>
          <a:prstGeom prst="rect">
            <a:avLst/>
          </a:prstGeom>
        </p:spPr>
      </p:pic>
      <p:sp>
        <p:nvSpPr>
          <p:cNvPr id="16" name="Title 3"/>
          <p:cNvSpPr txBox="1">
            <a:spLocks/>
          </p:cNvSpPr>
          <p:nvPr/>
        </p:nvSpPr>
        <p:spPr>
          <a:xfrm>
            <a:off x="143555" y="4619149"/>
            <a:ext cx="8856890" cy="4517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400" dirty="0" smtClean="0">
                <a:solidFill>
                  <a:schemeClr val="tx1"/>
                </a:solidFill>
                <a:effectLst/>
              </a:rPr>
              <a:t>The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average number of pizzas ordered per day</a:t>
            </a:r>
            <a:r>
              <a:rPr lang="en-US" sz="2400" b="1" dirty="0" smtClean="0">
                <a:solidFill>
                  <a:schemeClr val="tx1"/>
                </a:solidFill>
                <a:effectLst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is 138.47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404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1800" b="1" dirty="0" smtClean="0">
                <a:solidFill>
                  <a:schemeClr val="tx1"/>
                </a:solidFill>
                <a:effectLst/>
              </a:rPr>
              <a:t>10. Determine </a:t>
            </a:r>
            <a:r>
              <a:rPr lang="en-US" sz="1800" b="1" dirty="0">
                <a:solidFill>
                  <a:schemeClr val="tx1"/>
                </a:solidFill>
                <a:effectLst/>
              </a:rPr>
              <a:t>the top 3 most ordered pizza based on revenue.</a:t>
            </a:r>
            <a:endParaRPr lang="en-US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1462" y="1773858"/>
            <a:ext cx="3819718" cy="32297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noProof="1" smtClean="0">
                <a:latin typeface="+mj-lt"/>
              </a:rPr>
              <a:t>SQL QUERIES</a:t>
            </a:r>
            <a:endParaRPr lang="en-US" sz="1600" b="1" noProof="1" smtClean="0">
              <a:solidFill>
                <a:srgbClr val="008000"/>
              </a:solidFill>
              <a:latin typeface="+mj-lt"/>
              <a:ea typeface="Times New Roman"/>
              <a:cs typeface="Courier New"/>
            </a:endParaRPr>
          </a:p>
          <a:p>
            <a:r>
              <a:rPr lang="en-US" sz="1200" i="1" dirty="0" smtClean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--Determine </a:t>
            </a:r>
            <a:r>
              <a:rPr lang="en-US" sz="1200" i="1" dirty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the top 3 most ordered pizza based on revenue.</a:t>
            </a:r>
            <a:endParaRPr lang="en-US" sz="1200" i="1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5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 </a:t>
            </a:r>
            <a:endParaRPr lang="en-US" sz="105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top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3 pt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name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 </a:t>
            </a:r>
            <a:endParaRPr lang="en-US" sz="11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1100" dirty="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1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1100" dirty="0" err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price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endParaRPr lang="en-US" sz="11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pizzas p </a:t>
            </a:r>
            <a:endParaRPr lang="en-US" sz="11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order_details od </a:t>
            </a:r>
            <a:endParaRPr lang="en-US" sz="11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1100" dirty="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1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Pizza_type </a:t>
            </a:r>
            <a:r>
              <a:rPr lang="en-US" sz="11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pt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endParaRPr lang="en-US" sz="11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100" dirty="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pt</a:t>
            </a:r>
            <a:r>
              <a:rPr lang="en-US" sz="1100" dirty="0" err="1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 err="1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</a:t>
            </a:r>
            <a:r>
              <a:rPr lang="en-US" sz="1100" dirty="0" err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 err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</a:t>
            </a:r>
            <a:endParaRPr lang="en-US" sz="1100" dirty="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1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group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100" dirty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name</a:t>
            </a:r>
            <a:endParaRPr lang="en-US" sz="1100" dirty="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order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100" dirty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 </a:t>
            </a:r>
            <a:r>
              <a:rPr lang="en-US" sz="1100" dirty="0" err="1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desc</a:t>
            </a:r>
            <a:endParaRPr lang="en-US" sz="1100" dirty="0">
              <a:ea typeface="Calibri"/>
              <a:cs typeface="Mangal"/>
            </a:endParaRPr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4113885" y="1808226"/>
            <a:ext cx="4886560" cy="31953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>
              <a:solidFill>
                <a:schemeClr val="tx1"/>
              </a:solidFill>
              <a:effectLst/>
            </a:endParaRPr>
          </a:p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  <a:p>
            <a:pPr lvl="0" algn="l"/>
            <a:r>
              <a:rPr lang="en-US" sz="1600" dirty="0" smtClean="0">
                <a:solidFill>
                  <a:schemeClr val="tx1"/>
                </a:solidFill>
                <a:effectLst/>
              </a:rPr>
              <a:t>The </a:t>
            </a:r>
            <a:r>
              <a:rPr lang="en-US" sz="1600" b="1" dirty="0">
                <a:solidFill>
                  <a:schemeClr val="tx1"/>
                </a:solidFill>
                <a:effectLst/>
              </a:rPr>
              <a:t>top 3 most ordered pizza based on </a:t>
            </a:r>
            <a:r>
              <a:rPr lang="en-US" sz="1600" b="1" dirty="0" smtClean="0">
                <a:solidFill>
                  <a:schemeClr val="tx1"/>
                </a:solidFill>
                <a:effectLst/>
              </a:rPr>
              <a:t>revenue </a:t>
            </a:r>
            <a:r>
              <a:rPr lang="en-US" sz="1600" dirty="0" smtClean="0">
                <a:solidFill>
                  <a:schemeClr val="tx1"/>
                </a:solidFill>
                <a:effectLst/>
              </a:rPr>
              <a:t>are: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600" dirty="0" smtClean="0">
                <a:solidFill>
                  <a:schemeClr val="tx1"/>
                </a:solidFill>
                <a:effectLst/>
              </a:rPr>
              <a:t>The Thai Chicken Pizza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600" dirty="0" smtClean="0">
                <a:solidFill>
                  <a:schemeClr val="tx1"/>
                </a:solidFill>
                <a:effectLst/>
              </a:rPr>
              <a:t>The Barbecue Chicken Pizza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600" dirty="0" smtClean="0">
                <a:solidFill>
                  <a:schemeClr val="tx1"/>
                </a:solidFill>
                <a:effectLst/>
              </a:rPr>
              <a:t>The California Chicken Pizza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1926" t="66245" r="58909" b="4513"/>
          <a:stretch/>
        </p:blipFill>
        <p:spPr>
          <a:xfrm>
            <a:off x="4199950" y="1914859"/>
            <a:ext cx="4733854" cy="18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3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1800" b="1" dirty="0" smtClean="0">
                <a:solidFill>
                  <a:schemeClr val="tx1"/>
                </a:solidFill>
                <a:effectLst/>
              </a:rPr>
              <a:t>11. Calculate </a:t>
            </a:r>
            <a:r>
              <a:rPr lang="en-US" sz="1800" b="1" dirty="0">
                <a:solidFill>
                  <a:schemeClr val="tx1"/>
                </a:solidFill>
                <a:effectLst/>
              </a:rPr>
              <a:t>the percentage contribution of each pizza type to total revenue.</a:t>
            </a:r>
            <a:endParaRPr lang="en-US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1461" y="1773858"/>
            <a:ext cx="3819719" cy="32708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smtClean="0">
                <a:latin typeface="+mj-lt"/>
              </a:rPr>
              <a:t>SQL QUERIES</a:t>
            </a:r>
            <a:endParaRPr lang="en-US" sz="1600" b="1">
              <a:solidFill>
                <a:srgbClr val="008000"/>
              </a:solidFill>
              <a:latin typeface="+mj-lt"/>
              <a:cs typeface="Courier New"/>
            </a:endParaRPr>
          </a:p>
          <a:p>
            <a:endParaRPr lang="en-US" sz="1000" b="1" smtClean="0">
              <a:solidFill>
                <a:srgbClr val="008000"/>
              </a:solidFill>
              <a:latin typeface="+mj-lt"/>
              <a:ea typeface="Times New Roman"/>
              <a:cs typeface="Courier New"/>
            </a:endParaRPr>
          </a:p>
          <a:p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 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900" smtClean="0">
              <a:ea typeface="Times New Roman"/>
              <a:cs typeface="Courier New"/>
            </a:endParaRPr>
          </a:p>
          <a:p>
            <a:r>
              <a:rPr lang="en-US" sz="900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CAST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100.0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/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total_revenue </a:t>
            </a: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DECIMAL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10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2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))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contribution_percent</a:t>
            </a:r>
            <a:endParaRPr lang="en-US" sz="900" smtClean="0">
              <a:ea typeface="Times New Roman"/>
              <a:cs typeface="Courier New"/>
            </a:endParaRPr>
          </a:p>
          <a:p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</a:t>
            </a: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rom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 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pt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 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price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90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price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))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over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()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total_revenue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pizzas p 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order_details od </a:t>
            </a:r>
            <a:endParaRPr lang="en-US" sz="90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Pizza_type pt </a:t>
            </a:r>
            <a:endParaRPr lang="en-US" sz="900" smtClean="0">
              <a:solidFill>
                <a:srgbClr val="000000"/>
              </a:solidFill>
              <a:latin typeface="Cascadia Mono"/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pt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 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group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pt</a:t>
            </a:r>
            <a:r>
              <a:rPr lang="en-US" sz="900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 </a:t>
            </a:r>
            <a:endParaRPr lang="en-US" sz="900">
              <a:ea typeface="Calibri"/>
              <a:cs typeface="Mangal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endParaRPr lang="en-US" sz="900">
              <a:ea typeface="Times New Roman"/>
              <a:cs typeface="Courier New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order</a:t>
            </a:r>
            <a:r>
              <a:rPr lang="en-US" sz="900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90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 </a:t>
            </a:r>
            <a:r>
              <a:rPr lang="en-US" sz="90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desc</a:t>
            </a:r>
            <a:endParaRPr lang="en-US" sz="900">
              <a:ea typeface="Calibri"/>
              <a:cs typeface="Mangal"/>
            </a:endParaRPr>
          </a:p>
          <a:p>
            <a:endParaRPr lang="en-US" sz="1000"/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4113885" y="1786709"/>
            <a:ext cx="4886560" cy="32580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657" y="2649148"/>
            <a:ext cx="4663015" cy="22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25656" y="1960930"/>
            <a:ext cx="466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The </a:t>
            </a:r>
            <a:r>
              <a:rPr lang="en-US" b="1" dirty="0"/>
              <a:t>percentage contribution </a:t>
            </a:r>
            <a:r>
              <a:rPr lang="en-US" dirty="0"/>
              <a:t>of each pizza type </a:t>
            </a:r>
            <a:r>
              <a:rPr lang="en-US" dirty="0" smtClean="0"/>
              <a:t>to </a:t>
            </a:r>
            <a:r>
              <a:rPr lang="en-US" dirty="0"/>
              <a:t>total </a:t>
            </a:r>
            <a:r>
              <a:rPr lang="en-US" dirty="0" smtClean="0"/>
              <a:t>revenue: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3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143555" y="1203756"/>
            <a:ext cx="8856890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1800" b="1" dirty="0" smtClean="0">
                <a:solidFill>
                  <a:schemeClr val="tx1"/>
                </a:solidFill>
                <a:effectLst/>
              </a:rPr>
              <a:t>12. </a:t>
            </a:r>
            <a:r>
              <a:rPr lang="en-US" sz="1800" b="1" dirty="0">
                <a:solidFill>
                  <a:schemeClr val="tx1"/>
                </a:solidFill>
                <a:effectLst/>
              </a:rPr>
              <a:t>Analyze the cumulative revenue generated over time.</a:t>
            </a:r>
            <a:endParaRPr lang="en-US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1461" y="1773858"/>
            <a:ext cx="3819719" cy="32547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noProof="1" smtClean="0">
                <a:latin typeface="+mj-lt"/>
              </a:rPr>
              <a:t>SQL QUERIES</a:t>
            </a:r>
          </a:p>
          <a:p>
            <a:endParaRPr lang="en-US" sz="1600" b="1" noProof="1" smtClean="0">
              <a:solidFill>
                <a:srgbClr val="008000"/>
              </a:solidFill>
              <a:latin typeface="+mj-lt"/>
              <a:cs typeface="Courier New"/>
            </a:endParaRPr>
          </a:p>
          <a:p>
            <a:r>
              <a:rPr lang="en-US" sz="900" noProof="1" smtClean="0">
                <a:solidFill>
                  <a:srgbClr val="008000"/>
                </a:solidFill>
                <a:latin typeface="Cascadia Mono"/>
                <a:ea typeface="Times New Roman"/>
                <a:cs typeface="Courier New"/>
              </a:rPr>
              <a:t>-- Analyze the cumulative revenue generated over time.</a:t>
            </a:r>
            <a:endParaRPr lang="en-US" sz="900" noProof="1" smtClean="0">
              <a:ea typeface="Times New Roman"/>
              <a:cs typeface="Courier New"/>
            </a:endParaRPr>
          </a:p>
          <a:p>
            <a:endParaRPr lang="en-US" sz="1100" noProof="1" smtClean="0">
              <a:solidFill>
                <a:srgbClr val="0000FF"/>
              </a:solidFill>
              <a:latin typeface="Cascadia Mono"/>
              <a:ea typeface="Times New Roman"/>
              <a:cs typeface="Courier New"/>
            </a:endParaRPr>
          </a:p>
          <a:p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1000" noProof="1" smtClean="0">
              <a:ea typeface="Times New Roman"/>
              <a:cs typeface="Courier New"/>
            </a:endParaRPr>
          </a:p>
          <a:p>
            <a:r>
              <a:rPr lang="en-US" sz="10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over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order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 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cumm_revenue</a:t>
            </a:r>
            <a:endParaRPr lang="en-US" sz="1000" noProof="1" smtClean="0">
              <a:ea typeface="Times New Roman"/>
              <a:cs typeface="Courier New"/>
            </a:endParaRPr>
          </a:p>
          <a:p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sum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price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orders o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order_details od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inner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pizzas p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group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date</a:t>
            </a:r>
            <a:endParaRPr lang="en-US" sz="1000" noProof="1" smtClean="0">
              <a:ea typeface="Calibri"/>
              <a:cs typeface="Mangal"/>
            </a:endParaRPr>
          </a:p>
          <a:p>
            <a:pPr marL="228600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 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endParaRPr lang="en-US" sz="1000" noProof="1" smtClean="0">
              <a:ea typeface="Calibri"/>
              <a:cs typeface="Mangal"/>
            </a:endParaRPr>
          </a:p>
          <a:p>
            <a:endParaRPr lang="en-US" sz="1000" noProof="1"/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4113885" y="1786709"/>
            <a:ext cx="4886560" cy="32580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36414" y="1808225"/>
            <a:ext cx="466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Below is the </a:t>
            </a:r>
            <a:r>
              <a:rPr lang="en-US" b="1" dirty="0"/>
              <a:t>cumulative revenue generated over time 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14" y="2454556"/>
            <a:ext cx="4663015" cy="249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69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4" y="433880"/>
            <a:ext cx="808421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Sales Analysis Using SQL</a:t>
            </a: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79008" y="1203756"/>
            <a:ext cx="8921437" cy="4517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1800" b="1" dirty="0" smtClean="0">
                <a:solidFill>
                  <a:schemeClr val="tx1"/>
                </a:solidFill>
                <a:effectLst/>
              </a:rPr>
              <a:t>13. </a:t>
            </a:r>
            <a:r>
              <a:rPr lang="en-US" sz="1800" b="1" dirty="0">
                <a:solidFill>
                  <a:schemeClr val="tx1"/>
                </a:solidFill>
                <a:effectLst/>
              </a:rPr>
              <a:t>Determine the top 3 most ordered pizza types based on revenue for each pizza category.</a:t>
            </a:r>
            <a:endParaRPr lang="en-US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008" y="1749233"/>
            <a:ext cx="4581152" cy="33009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noProof="1" smtClean="0">
                <a:latin typeface="+mj-lt"/>
              </a:rPr>
              <a:t>SQL QUERIES</a:t>
            </a:r>
          </a:p>
          <a:p>
            <a:endParaRPr lang="en-US" sz="1000" b="1" noProof="1" smtClean="0">
              <a:latin typeface="+mj-lt"/>
            </a:endParaRPr>
          </a:p>
          <a:p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endParaRPr lang="en-US" sz="1000" noProof="1" smtClean="0">
              <a:ea typeface="Calibri"/>
              <a:cs typeface="Mang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select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name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revenue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1000" noProof="1" smtClean="0">
              <a:ea typeface="Calibri"/>
              <a:cs typeface="Mang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rank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over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partition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category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order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desc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revenue_by_each_category</a:t>
            </a:r>
            <a:endParaRPr lang="en-US" sz="1000" noProof="1" smtClean="0">
              <a:ea typeface="Calibri"/>
              <a:cs typeface="Mang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from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  select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name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FF00FF"/>
                </a:solidFill>
                <a:latin typeface="Cascadia Mono"/>
                <a:ea typeface="Times New Roman"/>
                <a:cs typeface="Courier New"/>
              </a:rPr>
              <a:t>  sum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(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quantity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*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price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as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  from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orders o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  inner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order_details od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order_id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  inner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pizzas p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od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pizza_id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  inner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join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Pizza_type pt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on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pizza_type_id</a:t>
            </a:r>
            <a:endParaRPr lang="en-US" sz="1000" noProof="1" smtClean="0">
              <a:ea typeface="Times New Roman"/>
              <a:cs typeface="Courier New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  group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by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name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,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pt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.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category</a:t>
            </a: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t</a:t>
            </a:r>
            <a:r>
              <a:rPr lang="en-US" sz="1000" noProof="1" smtClean="0">
                <a:ea typeface="Times New Roman"/>
                <a:cs typeface="Courier New"/>
              </a:rPr>
              <a:t>  </a:t>
            </a: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)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t1</a:t>
            </a:r>
            <a:endParaRPr lang="en-US" sz="1000" noProof="1" smtClean="0">
              <a:ea typeface="Calibri"/>
              <a:cs typeface="Mang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noProof="1" smtClean="0">
                <a:solidFill>
                  <a:srgbClr val="0000FF"/>
                </a:solidFill>
                <a:latin typeface="Cascadia Mono"/>
                <a:ea typeface="Times New Roman"/>
                <a:cs typeface="Courier New"/>
              </a:rPr>
              <a:t>where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revenue_by_each_category </a:t>
            </a:r>
            <a:r>
              <a:rPr lang="en-US" sz="1000" noProof="1" smtClean="0">
                <a:solidFill>
                  <a:srgbClr val="808080"/>
                </a:solidFill>
                <a:latin typeface="Cascadia Mono"/>
                <a:ea typeface="Times New Roman"/>
                <a:cs typeface="Courier New"/>
              </a:rPr>
              <a:t>&lt;=</a:t>
            </a:r>
            <a:r>
              <a:rPr lang="en-US" sz="1000" noProof="1" smtClean="0">
                <a:solidFill>
                  <a:srgbClr val="000000"/>
                </a:solidFill>
                <a:latin typeface="Cascadia Mono"/>
                <a:ea typeface="Times New Roman"/>
                <a:cs typeface="Courier New"/>
              </a:rPr>
              <a:t> 3</a:t>
            </a:r>
            <a:endParaRPr lang="en-US" sz="1000" noProof="1">
              <a:ea typeface="Calibri"/>
              <a:cs typeface="Mangal"/>
            </a:endParaRPr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4724708" y="1749233"/>
            <a:ext cx="4275737" cy="32955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 algn="l"/>
            <a:endParaRPr lang="en-US" sz="1600" dirty="0" smtClean="0"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30115" y="1808225"/>
            <a:ext cx="38693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500" dirty="0" smtClean="0"/>
              <a:t>Below are </a:t>
            </a:r>
            <a:r>
              <a:rPr lang="en-US" sz="1500" b="1" dirty="0"/>
              <a:t>the top 3 most ordered pizza types based on revenue for each pizza category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014" y="2424062"/>
            <a:ext cx="4174721" cy="254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60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128470"/>
            <a:ext cx="6413610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Conclusion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39540" y="1350110"/>
            <a:ext cx="6404460" cy="30529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project demonstrates how SQL can be used to transform raw transactional data into actionable insights. </a:t>
            </a:r>
            <a:endParaRPr lang="en-US" sz="2400" dirty="0" smtClean="0"/>
          </a:p>
          <a:p>
            <a:r>
              <a:rPr lang="en-US" sz="2400" dirty="0" smtClean="0"/>
              <a:t>By </a:t>
            </a:r>
            <a:r>
              <a:rPr lang="en-US" sz="2400" dirty="0"/>
              <a:t>analyzing sales trends, customer preferences, and revenue distribution, businesses can make informed strategic decisions.</a:t>
            </a:r>
          </a:p>
        </p:txBody>
      </p:sp>
    </p:spTree>
    <p:extLst>
      <p:ext uri="{BB962C8B-B14F-4D97-AF65-F5344CB8AC3E}">
        <p14:creationId xmlns:p14="http://schemas.microsoft.com/office/powerpoint/2010/main" val="384785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128470"/>
            <a:ext cx="6413610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Future Enhancements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39540" y="1350110"/>
            <a:ext cx="6404460" cy="30529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Build </a:t>
            </a:r>
            <a:r>
              <a:rPr lang="en-US" sz="2400" dirty="0"/>
              <a:t>Power BI dashboard for visualization </a:t>
            </a:r>
          </a:p>
          <a:p>
            <a:r>
              <a:rPr lang="en-US" sz="2400" dirty="0"/>
              <a:t>Add customer segmentation analysis </a:t>
            </a:r>
          </a:p>
          <a:p>
            <a:r>
              <a:rPr lang="en-US" sz="2400" dirty="0"/>
              <a:t>Forecast future sales using time-series models </a:t>
            </a:r>
          </a:p>
          <a:p>
            <a:r>
              <a:rPr lang="en-US" sz="2400" dirty="0"/>
              <a:t>Integrate real-time data pipelines</a:t>
            </a:r>
          </a:p>
        </p:txBody>
      </p:sp>
    </p:spTree>
    <p:extLst>
      <p:ext uri="{BB962C8B-B14F-4D97-AF65-F5344CB8AC3E}">
        <p14:creationId xmlns:p14="http://schemas.microsoft.com/office/powerpoint/2010/main" val="57550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3984271"/>
            <a:ext cx="6413610" cy="725349"/>
          </a:xfrm>
        </p:spPr>
        <p:txBody>
          <a:bodyPr>
            <a:normAutofit/>
          </a:bodyPr>
          <a:lstStyle/>
          <a:p>
            <a:pPr algn="r"/>
            <a:r>
              <a:rPr lang="en-US" b="1" dirty="0" smtClean="0"/>
              <a:t>Thank you!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534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Office PowerPoint</Application>
  <PresentationFormat>On-screen Show (16:9)</PresentationFormat>
  <Paragraphs>308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Data Analysis Using SQL</vt:lpstr>
      <vt:lpstr>Problem Statement</vt:lpstr>
      <vt:lpstr>Objectives</vt:lpstr>
      <vt:lpstr>Tools &amp; Technologies Used</vt:lpstr>
      <vt:lpstr>Dataset Description</vt:lpstr>
      <vt:lpstr>Data Cleaning Process</vt:lpstr>
      <vt:lpstr>Data Cleaning Process</vt:lpstr>
      <vt:lpstr>Data Cleaning Process</vt:lpstr>
      <vt:lpstr>Business Impact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Pizza Sales Analysis Using SQL</vt:lpstr>
      <vt:lpstr>Conclusion</vt:lpstr>
      <vt:lpstr>Future Enhancements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2026-04-30T13:57:53Z</dcterms:modified>
</cp:coreProperties>
</file>